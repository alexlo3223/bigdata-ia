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ELIZA fue publicada en 1966. Este diálogo está adaptado del artículo original de Weizenbaum: el programa parece escuchar, pero solo sigue reglas.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 que ELIZA era un conjunto de reglas, no inteligencia aprendida. El nombre alude a Pygmalion.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la regla detecta «estoy», aísla «triste por mi madre» y devuelve la frase cambiando «mi» por «tu».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rol rogeriano permite responder con preguntas y reflejos sin necesitar conocimiento del mundo.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Weizenbaum relató estas reacciones en su libro de 1976. Fue lo que más le inquietó de su propio experimento.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Contrasta reglas fijas con modelos que aprenden. El efecto ELIZA sigue presente con los chatbots actuales.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ELIZA muestra lo fácil que es proyectar comprensión sobre una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EF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ELIZA</a:t>
            </a:r>
            <a:pPr indent="0" marL="0">
              <a:buNone/>
            </a:pPr>
            <a:r>
              <a:rPr lang="en-US" sz="8000" b="1" dirty="0">
                <a:solidFill>
                  <a:srgbClr val="EF7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E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chatbot de la historia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Weizenbaum, MIT, 1966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040880" y="1371600"/>
            <a:ext cx="4206240" cy="822960"/>
          </a:xfrm>
          <a:prstGeom prst="roundRect">
            <a:avLst>
              <a:gd name="adj" fmla="val 16667"/>
            </a:avLst>
          </a:prstGeom>
          <a:solidFill>
            <a:srgbClr val="2A3745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hombres son iguales.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2423160"/>
            <a:ext cx="3931920" cy="822960"/>
          </a:xfrm>
          <a:prstGeom prst="roundRect">
            <a:avLst>
              <a:gd name="adj" fmla="val 16667"/>
            </a:avLst>
          </a:prstGeom>
          <a:solidFill>
            <a:srgbClr val="EEF1E6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sentido?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3474720"/>
            <a:ext cx="4206240" cy="822960"/>
          </a:xfrm>
          <a:prstGeom prst="roundRect">
            <a:avLst>
              <a:gd name="adj" fmla="val 16667"/>
            </a:avLst>
          </a:prstGeom>
          <a:solidFill>
            <a:srgbClr val="2A3745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nos molestan con algo.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526280"/>
            <a:ext cx="3931920" cy="822960"/>
          </a:xfrm>
          <a:prstGeom prst="roundRect">
            <a:avLst>
              <a:gd name="adj" fmla="val 16667"/>
            </a:avLst>
          </a:prstGeom>
          <a:solidFill>
            <a:srgbClr val="EEF1E6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¿Puedes darme un ejemplo concreto?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 adaptado del artículo original de Weizenbaum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Quién la hizo y qué era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Weizenbaum, investigador del MIT, la publicó en 1966 en Communications of the ACM.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nombre viene de Eliza Doolittle, la protagonista de Pygmalion, que aprende a hablar de otra manera.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guion más famoso, DOCTOR, imitaba a un psicoterapeuta rogeriano.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un programa de reglas escritas a mano, no un sistema que aprendiera.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554480"/>
            <a:ext cx="3840480" cy="2103120"/>
          </a:xfrm>
          <a:prstGeom prst="roundRect">
            <a:avLst>
              <a:gd name="adj" fmla="val 6522"/>
            </a:avLst>
          </a:prstGeom>
          <a:solidFill>
            <a:srgbClr val="1D2733"/>
          </a:solidFill>
          <a:ln/>
        </p:spPr>
        <p:txBody>
          <a:bodyPr wrap="square" lIns="228600" tIns="228600" rIns="228600" bIns="22860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EF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1966</a:t>
            </a:r>
            <a:endParaRPr lang="en-US" sz="5400" dirty="0"/>
          </a:p>
          <a:p>
            <a:pPr indent="0" marL="0">
              <a:buNone/>
            </a:pPr>
            <a:r>
              <a:rPr lang="en-US" sz="1600" dirty="0">
                <a:solidFill>
                  <a:srgbClr val="EE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en Communications of the ACM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680960" y="3931920"/>
            <a:ext cx="3840480" cy="2103120"/>
          </a:xfrm>
          <a:prstGeom prst="roundRect">
            <a:avLst>
              <a:gd name="adj" fmla="val 6522"/>
            </a:avLst>
          </a:prstGeom>
          <a:solidFill>
            <a:srgbClr val="DDE7D3"/>
          </a:solidFill>
          <a:ln/>
        </p:spPr>
        <p:txBody>
          <a:bodyPr wrap="square" lIns="228600" tIns="228600" rIns="228600" bIns="22860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</a:t>
            </a:r>
            <a:endParaRPr lang="en-US" sz="5400" dirty="0"/>
          </a:p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Weizenbaum, investigador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funcionaba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60320" cy="2468880"/>
          </a:xfrm>
          <a:prstGeom prst="roundRect">
            <a:avLst>
              <a:gd name="adj" fmla="val 5556"/>
            </a:avLst>
          </a:prstGeom>
          <a:solidFill>
            <a:srgbClr val="DDE7D3"/>
          </a:solidFill>
          <a:ln w="12700">
            <a:solidFill>
              <a:srgbClr val="DDE7D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B326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clave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en tu frase una palabra que active una regla.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22599" y="1554480"/>
            <a:ext cx="2560320" cy="2468880"/>
          </a:xfrm>
          <a:prstGeom prst="roundRect">
            <a:avLst>
              <a:gd name="adj" fmla="val 5556"/>
            </a:avLst>
          </a:prstGeom>
          <a:solidFill>
            <a:srgbClr val="DDE7D3"/>
          </a:solidFill>
          <a:ln w="12700">
            <a:solidFill>
              <a:srgbClr val="DDE7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5479" y="1737360"/>
            <a:ext cx="502920" cy="502920"/>
          </a:xfrm>
          <a:prstGeom prst="ellipse">
            <a:avLst/>
          </a:prstGeom>
          <a:solidFill>
            <a:srgbClr val="B326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605479" y="23774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la frase con un patrón y aísla lo importante.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05118" y="1554480"/>
            <a:ext cx="2560320" cy="2468880"/>
          </a:xfrm>
          <a:prstGeom prst="roundRect">
            <a:avLst>
              <a:gd name="adj" fmla="val 5556"/>
            </a:avLst>
          </a:prstGeom>
          <a:solidFill>
            <a:srgbClr val="DDE7D3"/>
          </a:solidFill>
          <a:ln w="12700">
            <a:solidFill>
              <a:srgbClr val="DDE7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7998" y="1737360"/>
            <a:ext cx="502920" cy="502920"/>
          </a:xfrm>
          <a:prstGeom prst="ellipse">
            <a:avLst/>
          </a:prstGeom>
          <a:solidFill>
            <a:srgbClr val="B326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87998" y="23774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Recomposición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una plantilla y cambia «yo» por «tú».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987638" y="1554480"/>
            <a:ext cx="2560320" cy="2468880"/>
          </a:xfrm>
          <a:prstGeom prst="roundRect">
            <a:avLst>
              <a:gd name="adj" fmla="val 5556"/>
            </a:avLst>
          </a:prstGeom>
          <a:solidFill>
            <a:srgbClr val="DDE7D3"/>
          </a:solidFill>
          <a:ln w="12700">
            <a:solidFill>
              <a:srgbClr val="DDE7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70518" y="1737360"/>
            <a:ext cx="502920" cy="502920"/>
          </a:xfrm>
          <a:prstGeom prst="ellipse">
            <a:avLst/>
          </a:prstGeom>
          <a:solidFill>
            <a:srgbClr val="B326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70518" y="237744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Comodín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palabra clave, responde algo como «Cuéntame más».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89120"/>
            <a:ext cx="4572000" cy="777240"/>
          </a:xfrm>
          <a:prstGeom prst="roundRect">
            <a:avLst>
              <a:gd name="adj" fmla="val 17647"/>
            </a:avLst>
          </a:prstGeom>
          <a:solidFill>
            <a:srgbClr val="DDE7D3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triste por mi madre.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303520"/>
            <a:ext cx="6217920" cy="777240"/>
          </a:xfrm>
          <a:prstGeom prst="roundRect">
            <a:avLst>
              <a:gd name="adj" fmla="val 17647"/>
            </a:avLst>
          </a:prstGeom>
          <a:solidFill>
            <a:srgbClr val="1D2733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¿Hace cuánto que estás triste por tu madre?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un terapeuta rogeriano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tipo de terapeuta devuelve al paciente lo que acaba de decir. Así, ELIZA podía sostener una conversación sin saber nada del mundo.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un truco de diseño: la apariencia de comprensión salía de reflejar tus propias palabras, no de entenderlas.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1554480"/>
            <a:ext cx="4572000" cy="2103120"/>
          </a:xfrm>
          <a:prstGeom prst="roundRect">
            <a:avLst>
              <a:gd name="adj" fmla="val 6522"/>
            </a:avLst>
          </a:prstGeom>
          <a:solidFill>
            <a:srgbClr val="1D2733"/>
          </a:solidFill>
          <a:ln/>
        </p:spPr>
        <p:txBody>
          <a:bodyPr wrap="square" lIns="228600" tIns="228600" rIns="228600" bIns="2286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EF7B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hace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E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Reflejar tus palabras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E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preguntas abiertas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E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 conversación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3931920"/>
            <a:ext cx="4572000" cy="2103120"/>
          </a:xfrm>
          <a:prstGeom prst="roundRect">
            <a:avLst>
              <a:gd name="adj" fmla="val 6522"/>
            </a:avLst>
          </a:prstGeom>
          <a:solidFill>
            <a:srgbClr val="DDE7D3"/>
          </a:solidFill>
          <a:ln/>
        </p:spPr>
        <p:txBody>
          <a:bodyPr wrap="square" lIns="228600" tIns="228600" rIns="228600" bIns="2286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3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no tiene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del significado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del mundo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a partir de datos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EF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efecto ELIZA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EF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gente creía que ELIZA los entendía.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554480"/>
            <a:ext cx="4937760" cy="1234440"/>
          </a:xfrm>
          <a:prstGeom prst="roundRect">
            <a:avLst>
              <a:gd name="adj" fmla="val 11111"/>
            </a:avLst>
          </a:prstGeom>
          <a:solidFill>
            <a:srgbClr val="2A3745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Weizenbaum se sorprendió de lo rápido que la gente se implicaba con el programa.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3017520"/>
            <a:ext cx="4937760" cy="1234440"/>
          </a:xfrm>
          <a:prstGeom prst="roundRect">
            <a:avLst>
              <a:gd name="adj" fmla="val 11111"/>
            </a:avLst>
          </a:prstGeom>
          <a:solidFill>
            <a:srgbClr val="2A3745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Contó que incluso su secretaria le pidió quedarse a solas con ELIZA.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4480560"/>
            <a:ext cx="4937760" cy="1234440"/>
          </a:xfrm>
          <a:prstGeom prst="roundRect">
            <a:avLst>
              <a:gd name="adj" fmla="val 11111"/>
            </a:avLst>
          </a:prstGeom>
          <a:solidFill>
            <a:srgbClr val="2A3745"/>
          </a:solidFill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lo llamamos efecto ELIZA: atribuir comprensión a un texto con aspecto humano.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Legado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2926080"/>
            <a:ext cx="10789920" cy="0"/>
          </a:xfrm>
          <a:prstGeom prst="line">
            <a:avLst/>
          </a:prstGeom>
          <a:noFill/>
          <a:ln w="25400">
            <a:solidFill>
              <a:srgbClr val="1D27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B3262E"/>
          </a:solidFill>
          <a:ln w="38100">
            <a:solidFill>
              <a:srgbClr val="EEF1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290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abre el camino de los chatbots.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66160" y="2697480"/>
            <a:ext cx="457200" cy="457200"/>
          </a:xfrm>
          <a:prstGeom prst="ellipse">
            <a:avLst/>
          </a:prstGeom>
          <a:solidFill>
            <a:srgbClr val="B3262E"/>
          </a:solidFill>
          <a:ln w="38100">
            <a:solidFill>
              <a:srgbClr val="EEF1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34290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PARRY, de Kenneth Colby, simula a un paciente paranoico.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1976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309360" y="2697480"/>
            <a:ext cx="457200" cy="457200"/>
          </a:xfrm>
          <a:prstGeom prst="ellipse">
            <a:avLst/>
          </a:prstGeom>
          <a:solidFill>
            <a:srgbClr val="B3262E"/>
          </a:solidFill>
          <a:ln w="38100">
            <a:solidFill>
              <a:srgbClr val="EEF1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4290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Weizenbaum publica Computer Power and Human Reason y critica delegar juicios humanos en máquinas.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052560" y="2697480"/>
            <a:ext cx="457200" cy="457200"/>
          </a:xfrm>
          <a:prstGeom prst="ellipse">
            <a:avLst/>
          </a:prstGeom>
          <a:solidFill>
            <a:srgbClr val="B3262E"/>
          </a:solidFill>
          <a:ln w="38100">
            <a:solidFill>
              <a:srgbClr val="EEF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342900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actuales aprenden de enormes cantidades de texto; ELIZA seguía reglas fijas.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66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Weizenbaum acabó siendo uno de los primeros críticos de la IA conversacional.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EF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Reflejar no es comprender.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297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conversación convincente no prueba que haya comprensión detrás.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2011680"/>
            <a:ext cx="3657600" cy="822960"/>
          </a:xfrm>
          <a:prstGeom prst="roundRect">
            <a:avLst>
              <a:gd name="adj" fmla="val 16667"/>
            </a:avLst>
          </a:prstGeom>
          <a:solidFill>
            <a:srgbClr val="2A3745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cansado.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3108960"/>
            <a:ext cx="3657600" cy="914400"/>
          </a:xfrm>
          <a:prstGeom prst="roundRect">
            <a:avLst>
              <a:gd name="adj" fmla="val 15000"/>
            </a:avLst>
          </a:prstGeom>
          <a:solidFill>
            <a:srgbClr val="EEF1E6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¿Hace cuánto que estás cansado?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ELIZA, el primer chatbot (1966)</dc:title>
  <dc:subject>PptxGenJS Presentation</dc:subject>
  <dc:creator>PptxGenJS</dc:creator>
  <cp:lastModifiedBy>PptxGenJS</cp:lastModifiedBy>
  <cp:revision>1</cp:revision>
  <dcterms:created xsi:type="dcterms:W3CDTF">2026-10-01T13:06:40Z</dcterms:created>
  <dcterms:modified xsi:type="dcterms:W3CDTF">2026-10-01T13:06:40Z</dcterms:modified>
</cp:coreProperties>
</file>